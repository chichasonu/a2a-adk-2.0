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4C7CFF"/>
                </a:solidFill>
                <a:latin typeface="Segoe UI"/>
              </a:rPr>
              <a:t>PREDICTIVE SERVICE ISSUE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000" b="1">
                <a:solidFill>
                  <a:srgbClr val="E8ECF5"/>
                </a:solidFill>
                <a:latin typeface="Segoe UI"/>
              </a:rPr>
              <a:t>Resolving the card issue before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000" b="1">
                <a:solidFill>
                  <a:srgbClr val="E8ECF5"/>
                </a:solidFill>
                <a:latin typeface="Segoe UI"/>
              </a:rPr>
              <a:t>the customer 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9AA6C0"/>
                </a:solidFill>
                <a:latin typeface="Segoe UI"/>
              </a:rPr>
              <a:t>A long-term-memory agent that reads behaviour, predicts the card problem, and offers the fix in-session — replace, activate, dispute or unlock.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Proof of concept  ·  FastAPI + Google ADK 2.0 + Redis  ·  four interchangeable long-term-memory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4C7CF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E8ECF5"/>
                </a:solidFill>
                <a:latin typeface="Segoe UI"/>
              </a:rPr>
              <a:t>Today the bank waits to be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05840" cy="508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20440" cy="196596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44450" cy="1965960"/>
          </a:xfrm>
          <a:prstGeom prst="rect">
            <a:avLst/>
          </a:prstGeom>
          <a:solidFill>
            <a:srgbClr val="F0B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9656"/>
            <a:ext cx="3154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Intent is visible, and ignored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32888"/>
            <a:ext cx="3154680" cy="9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The customer searches “debit card blocked”, then opens Card management three times in five minutes. Every one of those signals is already in the bank's clickstream — and nothing acts on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20440" cy="196596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44450" cy="1965960"/>
          </a:xfrm>
          <a:prstGeom prst="rect">
            <a:avLst/>
          </a:prstGeom>
          <a:solidFill>
            <a:srgbClr val="F0B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19656"/>
            <a:ext cx="3154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The customer does the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32888"/>
            <a:ext cx="3154680" cy="9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They have to find the right page, guess whether this is a block, a dispute or a dead card, and often give up and call — the most expensive channel the bank runs.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3520440" cy="196596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44450" cy="1965960"/>
          </a:xfrm>
          <a:prstGeom prst="rect">
            <a:avLst/>
          </a:prstGeom>
          <a:solidFill>
            <a:srgbClr val="F0B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19656"/>
            <a:ext cx="3154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Every visit starts from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8"/>
            <a:ext cx="3154680" cy="9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The chatbot has no idea this same card was blocked last month or that the customer always chooses “unlock”. No memory means no learning and no personalisation.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10927080" cy="18288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44450" cy="182880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59936"/>
            <a:ext cx="10561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What predictive resolution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498848"/>
            <a:ext cx="10561320" cy="113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Behaviour is the signal, memory is the context, and resolution is one click inside the page the customer is already on: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Search + repeat visits + declines  →  friction score with an explainable reason for every point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Long-term memory  →  the issue this customer keeps hitting and the fix they accepted last time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Agent tools  →  replace / activate / dispute / unlock executed in-session, then written back to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4C7CFF"/>
                </a:solidFill>
                <a:latin typeface="Segoe UI"/>
              </a:rPr>
              <a:t>WHAT YOU WILL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E8ECF5"/>
                </a:solidFill>
                <a:latin typeface="Segoe UI"/>
              </a:rPr>
              <a:t>The intervention, in the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05840" cy="508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852160" cy="43516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35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Search “debit card blocked” → open Card management twice → the offer fires at 0.65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00200"/>
            <a:ext cx="4800600" cy="219456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600200"/>
            <a:ext cx="44450" cy="219456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728216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Proactive, not reactive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167128"/>
            <a:ext cx="4434840" cy="149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“Having trouble with your card? I can help replace, activate, dispute or unlock it.” The predicted issue is blocked, so Unlock card is ranked first — the other three stay one click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977639"/>
            <a:ext cx="4800600" cy="219456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3977639"/>
            <a:ext cx="44450" cy="2194560"/>
          </a:xfrm>
          <a:prstGeom prst="rect">
            <a:avLst/>
          </a:prstGeom>
          <a:solidFill>
            <a:srgbClr val="8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4105655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Explainable by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4544567"/>
            <a:ext cx="4434840" cy="149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The agent brain panel shows every contribution: card-issue search +0.30, two card-page visits +0.35, memory of a past blocked issue +0.15. No black-box score, so risk and compliance can audit each prompt.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4C7CFF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E8ECF5"/>
                </a:solidFill>
                <a:latin typeface="Segoe U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05840" cy="508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22860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44450" cy="22860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9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41423"/>
            <a:ext cx="1645920" cy="1608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Search, page views, declines and IVR calls land in a rolling Redis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1691640"/>
            <a:ext cx="2011680" cy="22860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52928" y="1691640"/>
            <a:ext cx="44450" cy="2286000"/>
          </a:xfrm>
          <a:prstGeom prst="rect">
            <a:avLst/>
          </a:prstGeom>
          <a:solidFill>
            <a:srgbClr val="F0B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1819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241423"/>
            <a:ext cx="1645920" cy="1608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Weighted, explainable friction score; issue taxonomy; ranked actions; cooldowns.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5776" y="1691640"/>
            <a:ext cx="2011680" cy="22860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65776" y="1691640"/>
            <a:ext cx="44450" cy="228600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1819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Intervene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241423"/>
            <a:ext cx="1645920" cy="1608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Proactive offer inside the page, best action first, with a “why” disclosure.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1691640"/>
            <a:ext cx="2011680" cy="22860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8624" y="1691640"/>
            <a:ext cx="44450" cy="2286000"/>
          </a:xfrm>
          <a:prstGeom prst="rect">
            <a:avLst/>
          </a:prstGeom>
          <a:solidFill>
            <a:srgbClr val="8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1819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Resolve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241423"/>
            <a:ext cx="1645920" cy="1608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ADK agent tools hit the card system of record: replace, activate, dispute, unlock.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1472" y="1691640"/>
            <a:ext cx="2011680" cy="22860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91472" y="1691640"/>
            <a:ext cx="44450" cy="22860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819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Remember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241423"/>
            <a:ext cx="1645920" cy="1608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Outcome, preference and feedback persist to long-term memory for the next visit.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06240"/>
            <a:ext cx="5349240" cy="19202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206240"/>
            <a:ext cx="44450" cy="192024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33425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Agent 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773168"/>
            <a:ext cx="4983480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Google ADK 2.0 LlmAgent (Gemini) with four card tools plus preload_memory / load_memory. A deterministic rule engine backs the same contract, so the demo runs with no API key and gives identical, repeatable results on stage.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206240"/>
            <a:ext cx="5349240" cy="19202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206240"/>
            <a:ext cx="44450" cy="1920240"/>
          </a:xfrm>
          <a:prstGeom prst="rect">
            <a:avLst/>
          </a:prstGeom>
          <a:solidFill>
            <a:srgbClr val="8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33425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Two memories, two 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773168"/>
            <a:ext cx="4983480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Short-term: the conversation itself, as an ADK session in Redis.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Long-term: durable facts, resolutions, feedback and a structured customer profile — pluggable across four architectures and fed straight back into the predictor as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4C7CFF"/>
                </a:solidFill>
                <a:latin typeface="Segoe UI"/>
              </a:rPr>
              <a:t>THE POC's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E8ECF5"/>
                </a:solidFill>
                <a:latin typeface="Segoe UI"/>
              </a:rPr>
              <a:t>Four memory architectures, one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05840" cy="508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Redis always holds behavioural signals, card state and sessions. The long-term version is selected with CARE_MEMORY_BACKEND — one architecture at a time, never a hybrid.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8840"/>
          <a:ext cx="10927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3108960"/>
                <a:gridCol w="2377440"/>
                <a:gridCol w="30632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CF5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marL="109728" marT="36576" marB="36576">
                    <a:solidFill>
                      <a:srgbClr val="4C7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CF5"/>
                          </a:solidFill>
                          <a:latin typeface="Segoe UI"/>
                        </a:rPr>
                        <a:t>Selector</a:t>
                      </a:r>
                    </a:p>
                  </a:txBody>
                  <a:tcPr marL="109728" marT="36576" marB="36576">
                    <a:solidFill>
                      <a:srgbClr val="4C7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CF5"/>
                          </a:solidFill>
                          <a:latin typeface="Segoe UI"/>
                        </a:rPr>
                        <a:t>Store</a:t>
                      </a:r>
                    </a:p>
                  </a:txBody>
                  <a:tcPr marL="109728" marT="36576" marB="36576">
                    <a:solidFill>
                      <a:srgbClr val="4C7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CF5"/>
                          </a:solidFill>
                          <a:latin typeface="Segoe UI"/>
                        </a:rPr>
                        <a:t>Retrieval</a:t>
                      </a:r>
                    </a:p>
                  </a:txBody>
                  <a:tcPr marL="109728" marT="36576" marB="36576">
                    <a:solidFill>
                      <a:srgbClr val="4C7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CF5"/>
                          </a:solidFill>
                          <a:latin typeface="Segoe UI"/>
                        </a:rPr>
                        <a:t>Why it matters</a:t>
                      </a:r>
                    </a:p>
                  </a:txBody>
                  <a:tcPr marL="109728" marT="36576" marB="36576">
                    <a:solidFill>
                      <a:srgbClr val="4C7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Document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mongo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memories + profiles collections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lexical IDF + recency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Durable, queryable, familiar operationally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Vector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chroma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ChromaDB, all-MiniLM-L6-v2 (no API key)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cosine nearest neighbour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Recalls paraphrases the customer actually types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Graph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graph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Neo4j Customer / Memory / Issue / Action / Card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text match + shared-entity traversal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Answers relationship questions, not just similarity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Redis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redis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sorted set + profile hash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lexical IDF + recency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6C0"/>
                          </a:solidFill>
                          <a:latin typeface="Segoe UI"/>
                        </a:rPr>
                        <a:t>Zero extra infrastructure for a laptop demo</a:t>
                      </a:r>
                    </a:p>
                  </a:txBody>
                  <a:tcPr marL="109728" marT="36576" marB="36576">
                    <a:solidFill>
                      <a:srgbClr val="141A2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480560"/>
            <a:ext cx="10927080" cy="16002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80560"/>
            <a:ext cx="44450" cy="160020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608576"/>
            <a:ext cx="10561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Swappable because the service contract is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047488"/>
            <a:ext cx="105613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Every version implements the same CareMemoryService (remember / search_records / search_memory / get_profile / update_profile / increment_profile_counter) on five storage primitives, so the predictor, the agent and the UI never change when the architecture does. Switching the whole memory tier in the demo is one environment variable and a restart.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4C7CFF"/>
                </a:solidFill>
                <a:latin typeface="Segoe UI"/>
              </a:rPr>
              <a:t>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E8ECF5"/>
                </a:solidFill>
                <a:latin typeface="Segoe UI"/>
              </a:rPr>
              <a:t>Why vector and graph earn their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05840" cy="508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283464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43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Recall box: a query sharing no words with the memories still returns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645920"/>
            <a:ext cx="7589520" cy="210312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7639" y="1645920"/>
            <a:ext cx="44450" cy="210312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7" y="177393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Vector — semantic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2212848"/>
            <a:ext cx="7223760" cy="140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Query “cannot tap to pay at the till” shares no word with “card blocked”, yet ChromaDB returns the blocked-card resolution at match 0.35 and drops everything below the 0.2 floor. The lexical versions return nothing for the same query.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3931920"/>
            <a:ext cx="7589520" cy="219456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39" y="3931920"/>
            <a:ext cx="44450" cy="2194560"/>
          </a:xfrm>
          <a:prstGeom prst="rect">
            <a:avLst/>
          </a:prstGeom>
          <a:solidFill>
            <a:srgbClr val="8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7" y="405993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Graph — structural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7" y="4498848"/>
            <a:ext cx="7223760" cy="149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Neo4j promotes metadata to entities: (:Memory)-[:ABOUT_ISSUE]-&gt;(:Issue), -[:RESOLVED_WITH]-&gt;(:Action), -[:ON_CARD]-&gt;(:Card). Query “accepted offer” reaches the resolution memory through the shared Action(unlock) node, and the UI shows how many entity links got it there — the basis for “this issue recurred 3× on the same card after a reissue”.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4C7CFF"/>
                </a:solidFill>
                <a:latin typeface="Segoe UI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E8ECF5"/>
                </a:solidFill>
                <a:latin typeface="Segoe UI"/>
              </a:rPr>
              <a:t>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05840" cy="508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141732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44450" cy="141732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Deflects the expensive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95703"/>
            <a:ext cx="4983480" cy="739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AA6C0"/>
                </a:solidFill>
                <a:latin typeface="Segoe UI"/>
              </a:rPr>
              <a:t>The fix is offered at the moment of friction, inside the page — before the call, the chat queue or the branch visit. Every accepted offer is a contained contact, and the demo records acceptance so deflection is measurable per intervention.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49240" cy="141732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44450" cy="141732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7393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Cuts time-to-resolution to one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95703"/>
            <a:ext cx="4983480" cy="739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No navigation, no triage, no repeating the story. The predicted issue picks the action, and the agent executes it against the card system of record in-session.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18688"/>
            <a:ext cx="5349240" cy="141732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18688"/>
            <a:ext cx="44450" cy="1417320"/>
          </a:xfrm>
          <a:prstGeom prst="rect">
            <a:avLst/>
          </a:prstGeom>
          <a:solidFill>
            <a:srgbClr val="8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34670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Gets better with every visit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768471"/>
            <a:ext cx="4983480" cy="739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AA6C0"/>
                </a:solidFill>
                <a:latin typeface="Segoe UI"/>
              </a:rPr>
              <a:t>Resolutions, preferences and dismissals persist, so the next prompt leads with what worked last time and the friction score already knows this is a recurring problem — personalisation without asking the customer anything.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18688"/>
            <a:ext cx="5349240" cy="141732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18688"/>
            <a:ext cx="44450" cy="1417320"/>
          </a:xfrm>
          <a:prstGeom prst="rect">
            <a:avLst/>
          </a:prstGeom>
          <a:solidFill>
            <a:srgbClr val="F0B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34670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Explainable and controllable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768471"/>
            <a:ext cx="4983480" cy="739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Every point of the score has a stated reason, interventions are suppressed off-context, after a dismissal and inside a cooldown — the guardrails a bank needs before it is allowed to speak first.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91456"/>
            <a:ext cx="5349240" cy="141732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791456"/>
            <a:ext cx="44450" cy="141732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91947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E8ECF5"/>
                </a:solidFill>
                <a:latin typeface="Segoe UI"/>
              </a:rPr>
              <a:t>Reusable beyond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341239"/>
            <a:ext cx="4983480" cy="739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Signals, taxonomy and tools are configuration. The same loop covers payments, mortgage applications, onboarding drop-off and claims — one predictive-care platform, many journeys.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4C7CFF"/>
                </a:solidFill>
                <a:latin typeface="Segoe UI"/>
              </a:rPr>
              <a:t>FROM POC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E8ECF5"/>
                </a:solidFill>
                <a:latin typeface="Segoe UI"/>
              </a:rPr>
              <a:t>How this gets productionised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05840" cy="508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520440" cy="21488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44450" cy="214884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3154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E8ECF5"/>
                </a:solidFill>
                <a:latin typeface="Segoe UI"/>
              </a:rPr>
              <a:t>Real signals instead of demo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18588"/>
            <a:ext cx="3154680" cy="124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Replace the /api/events calls with the existing clickstream and core feeds: web/app analytics, auth events, declined-authorisation stream, IVR and card-status changes, published to Kafka. The predictor consumes a feature view (Flink or a feature store) instead of a Redis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520440" cy="21488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44450" cy="214884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73936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E8ECF5"/>
                </a:solidFill>
                <a:latin typeface="Segoe UI"/>
              </a:rPr>
              <a:t>Real systems of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78558"/>
            <a:ext cx="3154680" cy="148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cards.py becomes an adapter over the card-management, fraud and disputes APIs. Actions run through the bank's orchestration with idempotency keys, step-up authentication for replace/unlock, and a dispute case created in the servicing platform rather than mocked.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520440" cy="21488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44450" cy="2148840"/>
          </a:xfrm>
          <a:prstGeom prst="rect">
            <a:avLst/>
          </a:prstGeom>
          <a:solidFill>
            <a:srgbClr val="8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73936"/>
            <a:ext cx="3154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E8ECF5"/>
                </a:solidFill>
                <a:latin typeface="Segoe UI"/>
              </a:rPr>
              <a:t>Memory as a governed data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18588"/>
            <a:ext cx="3154680" cy="124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Pick one architecture per need — documents for profiles, managed vector search for episodic recall, a graph for relationship questions — behind the same CareMemoryService. Add tenant isolation, encryption, PII minimisation, retention/erasure jobs for GDPR, and consent flags checked before any memory is written or used.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3520440" cy="21488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44450" cy="2148840"/>
          </a:xfrm>
          <a:prstGeom prst="rect">
            <a:avLst/>
          </a:prstGeom>
          <a:solidFill>
            <a:srgbClr val="F0B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105655"/>
            <a:ext cx="3154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E8ECF5"/>
                </a:solidFill>
                <a:latin typeface="Segoe UI"/>
              </a:rPr>
              <a:t>Model, prompt and safety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750307"/>
            <a:ext cx="3154680" cy="124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Gemini via Vertex AI with private networking, prompt/response logging, tool allow-lists, output validation and a hard rule that money-moving actions need explicit confirmation. Score weights move out of code into a versioned config so risk owns them, with champion/challenger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977639"/>
            <a:ext cx="3520440" cy="21488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977639"/>
            <a:ext cx="44450" cy="214884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4105655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E8ECF5"/>
                </a:solidFill>
                <a:latin typeface="Segoe UI"/>
              </a:rPr>
              <a:t>Platform and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510277"/>
            <a:ext cx="3154680" cy="148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Containers on Kubernetes behind the existing gateway, managed Redis and database services, OpenTelemetry traces plus latency/error SLOs, intervention-rate and acceptance dashboards, and kill switches per journey. CI runs the current test suite plus contract tests per memory backend.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977639"/>
            <a:ext cx="3520440" cy="21488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977639"/>
            <a:ext cx="44450" cy="214884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105655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E8ECF5"/>
                </a:solidFill>
                <a:latin typeface="Segoe UI"/>
              </a:rPr>
              <a:t>Prove the lift, then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510277"/>
            <a:ext cx="3154680" cy="148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Start shadow-mode (score, do not prompt) to calibrate thresholds, then a 1–5% holdout A/B on containment, time-to-resolution, call volume and CSAT. Promote per-journey once the lift clears the guardrails, and let the accepted/dismissed feedback already captured retrain the ranking.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4C7CFF"/>
                </a:solidFill>
                <a:latin typeface="Segoe U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E8ECF5"/>
                </a:solidFill>
                <a:latin typeface="Segoe UI"/>
              </a:rPr>
              <a:t>Running the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05840" cy="508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22860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44450" cy="2286000"/>
          </a:xfrm>
          <a:prstGeom prst="rect">
            <a:avLst/>
          </a:prstGeom>
          <a:solidFill>
            <a:srgbClr val="4C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Start the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4983480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docker compose -f predictive_care/docker-compose.yml up -d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AA6C0"/>
                </a:solidFill>
                <a:latin typeface="Segoe UI"/>
              </a:rPr>
              <a:t>redis:6379 · mongo:27017 · chroma:8000 · neo4j:7687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pip install -e ".[vector,graph]"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CARE_MEMORY_BACKEND=chroma predictive-care --port 8100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AA6C0"/>
                </a:solidFill>
                <a:latin typeface="Segoe UI"/>
              </a:rPr>
              <a:t>swap chroma for graph, mongo or redis to change the architecture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AA6C0"/>
                </a:solidFill>
                <a:latin typeface="Segoe UI"/>
              </a:rPr>
              <a:t>CARE_FORCE_RULES=true keeps it deterministic without a Gemini 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49240" cy="228600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44450" cy="228600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7393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Golden path (90 seconds)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983480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1. Search “debit card blocked”.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2. Open Card management, go back, open it again.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3. The offer fires at 0.65 with Unlock card first — accept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4. Recall “cannot tap to pay at the till” to show semantic memory.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AA6C0"/>
                </a:solidFill>
                <a:latin typeface="Segoe UI"/>
              </a:rPr>
              <a:t>5. New visit → the score starts at 0.85 and leads with unlock.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10927080" cy="1920240"/>
          </a:xfrm>
          <a:prstGeom prst="rect">
            <a:avLst/>
          </a:prstGeom>
          <a:solidFill>
            <a:srgbClr val="141A2B"/>
          </a:solidFill>
          <a:ln w="12700">
            <a:solidFill>
              <a:srgbClr val="252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44450" cy="1920240"/>
          </a:xfrm>
          <a:prstGeom prst="rect">
            <a:avLst/>
          </a:prstGeom>
          <a:solidFill>
            <a:srgbClr val="F0B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88536"/>
            <a:ext cx="10561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E8ECF5"/>
                </a:solidFill>
                <a:latin typeface="Segoe UI"/>
              </a:rPr>
              <a:t>What is proven, and what is still mocked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727448"/>
            <a:ext cx="10561320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Proven end-to-end on real Docker services: prediction, proactive offer, the four resolution actions, memory write-back, personalisation, and semantic and graph recall — all four memory versions pass the same browser journey.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AA6C0"/>
                </a:solidFill>
                <a:latin typeface="Segoe UI"/>
              </a:rPr>
              <a:t>Mocked on purpose: the bank of record (accounts, card, transactions), the clickstream (UI-generated events) and authentication. Those are the first three integrations on the production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